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2" r:id="rId7"/>
    <p:sldId id="293" r:id="rId8"/>
    <p:sldId id="290" r:id="rId9"/>
    <p:sldId id="294" r:id="rId10"/>
    <p:sldId id="291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33C352-E53C-6CF2-05E3-97BF7C2BFF0D}" v="46" dt="2025-10-28T06:48:50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922" y="1447800"/>
            <a:ext cx="7702278" cy="1750515"/>
          </a:xfrm>
        </p:spPr>
        <p:txBody>
          <a:bodyPr>
            <a:normAutofit fontScale="90000"/>
          </a:bodyPr>
          <a:lstStyle/>
          <a:p>
            <a:pPr algn="ctr">
              <a:defRPr b="1" sz="3600">
                <a:solidFill>
                  <a:srgbClr val="1E3A8A"/>
                </a:solidFill>
              </a:defRPr>
            </a:pPr>
            <a:r>
              <a:t>CareerOS</a:t>
            </a:r>
            <a:endParaRPr lang="en-US" sz="1600" dirty="0">
              <a:ea typeface="Calibri"/>
              <a:cs typeface="Calibri"/>
            </a:endParaRPr>
          </a:p>
          <a:p>
            <a:pPr algn="ctr">
              <a:defRPr b="1" sz="2000">
                <a:solidFill>
                  <a:srgbClr val="0E7490"/>
                </a:solidFill>
              </a:defRPr>
            </a:pPr>
            <a:r>
              <a:t>AI-Powered Career Operating System &amp; Academic Intelligence Platform</a:t>
            </a:r>
          </a:p>
          <a:p>
            <a:pPr algn="ctr">
              <a:defRPr i="1" sz="1400">
                <a:solidFill>
                  <a:srgbClr val="334155"/>
                </a:solidFill>
              </a:defRPr>
            </a:pPr>
            <a:r>
              <a:t>Mini Project / 5th Sem / BCS554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886200"/>
            <a:ext cx="2514600" cy="1752600"/>
          </a:xfrm>
        </p:spPr>
        <p:txBody>
          <a:bodyPr>
            <a:normAutofit fontScale="70000" lnSpcReduction="20000"/>
          </a:bodyPr>
          <a:lstStyle/>
          <a:p>
            <a:pPr>
              <a:defRPr b="1" sz="1500">
                <a:solidFill>
                  <a:srgbClr val="1E3A8A"/>
                </a:solidFill>
              </a:defRPr>
            </a:pPr>
            <a:r>
              <a:t>STUDENT DETAILS: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1. Shahab Ahmad (Roll No: 2200680100206)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2. Student Name 2 (Roll No: 2200680100XXX)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3. Student Name 3 (Roll No: 2200680100XXX)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410200" y="3810000"/>
            <a:ext cx="25146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b="1" sz="1500">
                <a:solidFill>
                  <a:srgbClr val="1E3A8A"/>
                </a:solidFill>
              </a:defRPr>
            </a:pPr>
            <a:r>
              <a:t>SUPERVISOR DETAILS: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Supervisor Name: Dr./Prof. [Supervisor Name]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Department of Computer Science &amp; Engineering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Designation: [Assistant Professor / Associate Professor]</a:t>
            </a:r>
          </a:p>
        </p:txBody>
      </p:sp>
      <p:pic>
        <p:nvPicPr>
          <p:cNvPr id="5" name="Picture 4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04800"/>
            <a:ext cx="1266825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762000"/>
            <a:ext cx="7772400" cy="1470025"/>
          </a:xfrm>
        </p:spPr>
        <p:txBody>
          <a:bodyPr/>
          <a:lstStyle/>
          <a:p>
            <a:pPr algn="l">
              <a:defRPr b="1" sz="2600">
                <a:solidFill>
                  <a:srgbClr val="1E3A8A"/>
                </a:solidFill>
              </a:defRPr>
            </a:pPr>
            <a:r>
              <a:t>ABSTRACT</a:t>
            </a:r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The Core Challenge: </a:t>
            </a:r>
            <a:r>
              <a:rPr sz="1400">
                <a:solidFill>
                  <a:srgbClr val="334155"/>
                </a:solidFill>
              </a:rPr>
              <a:t>Undergraduate students struggle with fragmented platforms for career planning, academic syllabus review, coding tracking, and job hunting.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Unified Operating System: </a:t>
            </a:r>
            <a:r>
              <a:rPr sz="1400">
                <a:solidFill>
                  <a:srgbClr val="334155"/>
                </a:solidFill>
              </a:rPr>
              <a:t>CareerOS centralizes academic intelligence and professional career progression into a single, cohesive full-stack web ecosystem.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Multimodal AI &amp; RAG: </a:t>
            </a:r>
            <a:r>
              <a:rPr sz="1400">
                <a:solidFill>
                  <a:srgbClr val="334155"/>
                </a:solidFill>
              </a:rPr>
              <a:t>Integrates Retrieval-Augmented Generation (RAG) using PostgreSQL pgvector and Google Gemini to interactively chat with syllabus PDFs and generate instant quizzes.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Context-Aware Mentorship: </a:t>
            </a:r>
            <a:r>
              <a:rPr sz="1400">
                <a:solidFill>
                  <a:srgbClr val="334155"/>
                </a:solidFill>
              </a:rPr>
              <a:t>Features an autonomous AI Career Mentor that provides tailored interview prep and project recommendations adapted to the student's university curriculum and goals.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Enterprise Tech Stack: </a:t>
            </a:r>
            <a:r>
              <a:rPr sz="1400">
                <a:solidFill>
                  <a:srgbClr val="334155"/>
                </a:solidFill>
              </a:rPr>
              <a:t>Engineered with React 18, TypeScript, TailwindCSS, Express.js v5, PostgreSQL, Prisma ORM, and resilient multi-model LLM fallback.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85800"/>
            <a:ext cx="7772400" cy="1470025"/>
          </a:xfrm>
        </p:spPr>
        <p:txBody>
          <a:bodyPr/>
          <a:lstStyle/>
          <a:p>
            <a:pPr algn="l">
              <a:defRPr b="1" sz="2600">
                <a:solidFill>
                  <a:srgbClr val="1E3A8A"/>
                </a:solidFill>
              </a:defRPr>
            </a:pPr>
            <a:r>
              <a:t>OBJECTIVE</a:t>
            </a:r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228600"/>
            <a:ext cx="1266825" cy="1266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Personalized AI Career Mentorship: </a:t>
            </a:r>
            <a:r>
              <a:rPr sz="1400">
                <a:solidFill>
                  <a:srgbClr val="334155"/>
                </a:solidFill>
              </a:rPr>
              <a:t>Provide dynamic guidance tailored to each student's current academic year, degree, and specific target career paths.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Multimodal Syllabus Study Assistant: </a:t>
            </a:r>
            <a:r>
              <a:rPr sz="1400">
                <a:solidFill>
                  <a:srgbClr val="334155"/>
                </a:solidFill>
              </a:rPr>
              <a:t>Enable students to upload course lecture notes, textbooks, and syllabi for instant contextual Q&amp;A, chapter summaries, and practice quizzes.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Live Job &amp; Internship Aggregation: </a:t>
            </a:r>
            <a:r>
              <a:rPr sz="1400">
                <a:solidFill>
                  <a:srgbClr val="334155"/>
                </a:solidFill>
              </a:rPr>
              <a:t>Automate real-time opportunity discovery across international job boards (Adzuna, Remotive, Arbeitnow) with background schedulers.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Standardized Skill Matrix: </a:t>
            </a:r>
            <a:r>
              <a:rPr sz="1400">
                <a:solidFill>
                  <a:srgbClr val="334155"/>
                </a:solidFill>
              </a:rPr>
              <a:t>Benchmark competencies on a granular 1–10 scale against live market requirements and generate actionable milestone roadmaps.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Unified Developer Portfolio Tracker: </a:t>
            </a:r>
            <a:r>
              <a:rPr sz="1400">
                <a:solidFill>
                  <a:srgbClr val="334155"/>
                </a:solidFill>
              </a:rPr>
              <a:t>Synchronize competitive programming statistics (LeetCode, CodeChef, HackerRank) and GitHub repositories into a shareable profile.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7772400" cy="1470025"/>
          </a:xfrm>
        </p:spPr>
        <p:txBody>
          <a:bodyPr/>
          <a:lstStyle/>
          <a:p>
            <a:pPr algn="l">
              <a:defRPr b="1" sz="2600">
                <a:solidFill>
                  <a:srgbClr val="1E3A8A"/>
                </a:solidFill>
              </a:defRPr>
            </a:pPr>
            <a:r>
              <a:t>SCOPE OF THE PROBLEM STATEMENT</a:t>
            </a:r>
            <a:endParaRPr lang="en-US" sz="120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04800"/>
            <a:ext cx="1266825" cy="1266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Target Beneficiaries: </a:t>
            </a:r>
            <a:r>
              <a:rPr sz="1400">
                <a:solidFill>
                  <a:srgbClr val="334155"/>
                </a:solidFill>
              </a:rPr>
              <a:t>Undergraduate engineering students, self-taught developers, university placement cells, and academic mentors.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Academic Synergies: </a:t>
            </a:r>
            <a:r>
              <a:rPr sz="1400">
                <a:solidFill>
                  <a:srgbClr val="334155"/>
                </a:solidFill>
              </a:rPr>
              <a:t>Converts passive PDF syllabi into active learning assistants with vector semantic search and OCR support for scanned notes.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Information Overload Reduction: </a:t>
            </a:r>
            <a:r>
              <a:rPr sz="1400">
                <a:solidFill>
                  <a:srgbClr val="334155"/>
                </a:solidFill>
              </a:rPr>
              <a:t>Consolidates job search across multiple platforms, eliminating stale listings and duplicate applications.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Security &amp; Performance Standards: </a:t>
            </a:r>
            <a:r>
              <a:rPr sz="1400">
                <a:solidFill>
                  <a:srgbClr val="334155"/>
                </a:solidFill>
              </a:rPr>
              <a:t>Implements Argon2 password hashing, secure JWT authentication with HTTP-only cookies, rate limiting, and request tracing.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Scalability &amp; Extensibility: </a:t>
            </a:r>
            <a:r>
              <a:rPr sz="1400">
                <a:solidFill>
                  <a:srgbClr val="334155"/>
                </a:solidFill>
              </a:rPr>
              <a:t>Modular microservices-ready architecture designed to support university-wide deployment and peer networking.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10878"/>
            <a:ext cx="6594339" cy="1512098"/>
          </a:xfrm>
        </p:spPr>
        <p:txBody>
          <a:bodyPr/>
          <a:lstStyle/>
          <a:p>
            <a:pPr algn="l">
              <a:defRPr b="1" sz="2600">
                <a:solidFill>
                  <a:srgbClr val="1E3A8A"/>
                </a:solidFill>
              </a:defRPr>
            </a:pPr>
            <a:r>
              <a:t>RELATED WORK &amp; COMPARATIVE ANALYSIS</a:t>
            </a:r>
            <a:endParaRPr lang="en-US" sz="1400" dirty="0">
              <a:ea typeface="Calibri"/>
              <a:cs typeface="Calibri"/>
            </a:endParaRP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304800"/>
            <a:ext cx="1266825" cy="1266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Traditional Professional Networks (LinkedIn/Handshake): </a:t>
            </a:r>
            <a:r>
              <a:rPr sz="1400">
                <a:solidFill>
                  <a:srgbClr val="334155"/>
                </a:solidFill>
              </a:rPr>
              <a:t>Focus heavily on networking and generalized job listings; lack integrated course-level study assistants, coding profile aggregators, and tailored student roadmaps.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General LLM Chatbots (ChatGPT/Claude): </a:t>
            </a:r>
            <a:r>
              <a:rPr sz="1400">
                <a:solidFill>
                  <a:srgbClr val="334155"/>
                </a:solidFill>
              </a:rPr>
              <a:t>Provide generic answers without grounding in the student's verified academic curriculum, university status, or private course textbooks.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Coding Practice Sites (LeetCode/CodeChef): </a:t>
            </a:r>
            <a:r>
              <a:rPr sz="1400">
                <a:solidFill>
                  <a:srgbClr val="334155"/>
                </a:solidFill>
              </a:rPr>
              <a:t>Operate as isolated silos without bridging problem-solving performance into career readiness or direct job application matching.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CareerOS Competitive Advantage: </a:t>
            </a:r>
            <a:r>
              <a:rPr sz="1400">
                <a:solidFill>
                  <a:srgbClr val="334155"/>
                </a:solidFill>
              </a:rPr>
              <a:t>Integrates Student Profile + RAG Study Room + Coding Tracker + Real-Time Job Sync + AI Mentorship into an end-to-end Career Operating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8710"/>
            <a:ext cx="7772400" cy="1470025"/>
          </a:xfrm>
        </p:spPr>
        <p:txBody>
          <a:bodyPr/>
          <a:lstStyle/>
          <a:p>
            <a:pPr algn="l">
              <a:defRPr b="1" sz="2600">
                <a:solidFill>
                  <a:srgbClr val="1E3A8A"/>
                </a:solidFill>
              </a:defRPr>
            </a:pPr>
            <a:r>
              <a:t>APPLICATIONS &amp; SYSTEM MODULES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RAG Study Room Module: </a:t>
            </a:r>
            <a:r>
              <a:rPr sz="1400">
                <a:solidFill>
                  <a:srgbClr val="334155"/>
                </a:solidFill>
              </a:rPr>
              <a:t>Multimodal PDF parsing with OCR fallback, 768-dim vector embeddings, semantic retrieval, chapter explanations, and auto-generated multiple-choice quizzes.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AI Career Mentor Module: </a:t>
            </a:r>
            <a:r>
              <a:rPr sz="1400">
                <a:solidFill>
                  <a:srgbClr val="334155"/>
                </a:solidFill>
              </a:rPr>
              <a:t>Context-aware career advice engine that reviews resumes, analyzes skill gaps, and recommends high-impact project architectures.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Opportunities &amp; Job Tracker: </a:t>
            </a:r>
            <a:r>
              <a:rPr sz="1400">
                <a:solidFill>
                  <a:srgbClr val="334155"/>
                </a:solidFill>
              </a:rPr>
              <a:t>Multi-provider job aggregation with automated status tracking (Applied, Interviewing, Offer, Rejected) and skill match scoring.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Coding &amp; GitHub Intelligence: </a:t>
            </a:r>
            <a:r>
              <a:rPr sz="1400">
                <a:solidFill>
                  <a:srgbClr val="334155"/>
                </a:solidFill>
              </a:rPr>
              <a:t>Centralized dashboard tracking problems solved, contest ratings, repository stars/forks, and commit activities.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Roadmaps &amp; Community Module: </a:t>
            </a:r>
            <a:r>
              <a:rPr sz="1400">
                <a:solidFill>
                  <a:srgbClr val="334155"/>
                </a:solidFill>
              </a:rPr>
              <a:t>Interactive step-by-step career path guides (Learn, Build, Apply) and student connection networking.</a:t>
            </a:r>
          </a:p>
        </p:txBody>
      </p:sp>
    </p:spTree>
    <p:extLst>
      <p:ext uri="{BB962C8B-B14F-4D97-AF65-F5344CB8AC3E}">
        <p14:creationId xmlns:p14="http://schemas.microsoft.com/office/powerpoint/2010/main" val="871869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/>
          <a:lstStyle/>
          <a:p>
            <a:pPr algn="l">
              <a:defRPr b="1" sz="2600">
                <a:solidFill>
                  <a:srgbClr val="1E3A8A"/>
                </a:solidFill>
              </a:defRPr>
            </a:pPr>
            <a:r>
              <a:t>LIMITATIONS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Third-Party AI Service Quotas: </a:t>
            </a:r>
            <a:r>
              <a:rPr sz="1400">
                <a:solidFill>
                  <a:srgbClr val="334155"/>
                </a:solidFill>
              </a:rPr>
              <a:t>AI generation and embedding speeds are subject to external provider rate limits and transient server spikes (mitigated by multi-model fallback).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Document Quality for OCR: </a:t>
            </a:r>
            <a:r>
              <a:rPr sz="1400">
                <a:solidFill>
                  <a:srgbClr val="334155"/>
                </a:solidFill>
              </a:rPr>
              <a:t>Extremely low-resolution, degraded, or non-standard handwritten scans may require higher-resolution vision preprocessing.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External Job Board Normalization: </a:t>
            </a:r>
            <a:r>
              <a:rPr sz="1400">
                <a:solidFill>
                  <a:srgbClr val="334155"/>
                </a:solidFill>
              </a:rPr>
              <a:t>Heterogeneous data structures across aggregator APIs require ongoing schema sanitization and duplicate filtering.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Vector Store Index Scaling: </a:t>
            </a:r>
            <a:r>
              <a:rPr sz="1400">
                <a:solidFill>
                  <a:srgbClr val="334155"/>
                </a:solidFill>
              </a:rPr>
              <a:t>As document chunk volume grows into millions, requires dedicated HNSW/IVFFlat index maintenance on PostgreSQL.</a:t>
            </a:r>
          </a:p>
        </p:txBody>
      </p:sp>
    </p:spTree>
    <p:extLst>
      <p:ext uri="{BB962C8B-B14F-4D97-AF65-F5344CB8AC3E}">
        <p14:creationId xmlns:p14="http://schemas.microsoft.com/office/powerpoint/2010/main" val="201410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40C1D99D-9F58-0ACE-965B-9F2E34AC4C37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b="1" sz="2600">
                <a:solidFill>
                  <a:srgbClr val="1E3A8A"/>
                </a:solidFill>
              </a:defRPr>
            </a:pPr>
            <a:r>
              <a:t>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Project Conclusion: </a:t>
            </a:r>
            <a:r>
              <a:rPr sz="1400">
                <a:solidFill>
                  <a:srgbClr val="334155"/>
                </a:solidFill>
              </a:rPr>
              <a:t>Successfully designed, implemented, and validated a comprehensive full-stack Career Operating System bridging academic learning and industry readiness.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Future Scope - Audio/Video Mock Interview Simulator: </a:t>
            </a:r>
            <a:r>
              <a:rPr sz="1400">
                <a:solidFill>
                  <a:srgbClr val="334155"/>
                </a:solidFill>
              </a:rPr>
              <a:t>Integrate WebSockets and WebRTC for speech-enabled mock technical and behavioral interviews with real-time feedback.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Future Scope - Native Mobile Application: </a:t>
            </a:r>
            <a:r>
              <a:rPr sz="1400">
                <a:solidFill>
                  <a:srgbClr val="334155"/>
                </a:solidFill>
              </a:rPr>
              <a:t>Develop cross-platform iOS and Android applications using React Native / Expo with offline study caching.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Future Scope - Algorithmic ATS Resume Scorer: </a:t>
            </a:r>
            <a:r>
              <a:rPr sz="1400">
                <a:solidFill>
                  <a:srgbClr val="334155"/>
                </a:solidFill>
              </a:rPr>
              <a:t>Implement direct parsing of student resumes against targeted job descriptions to provide instant keyword optimization score.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Future Scope - Collaborative Study Rooms: </a:t>
            </a:r>
            <a:r>
              <a:rPr sz="1400">
                <a:solidFill>
                  <a:srgbClr val="334155"/>
                </a:solidFill>
              </a:rPr>
              <a:t>Real-time collaborative study sessions with shared interactive whiteboards and synchronized PDF viewers.</a:t>
            </a:r>
          </a:p>
        </p:txBody>
      </p:sp>
    </p:spTree>
    <p:extLst>
      <p:ext uri="{BB962C8B-B14F-4D97-AF65-F5344CB8AC3E}">
        <p14:creationId xmlns:p14="http://schemas.microsoft.com/office/powerpoint/2010/main" val="237021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40C1D99D-9F58-0ACE-965B-9F2E34AC4C37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b="1" sz="2600">
                <a:solidFill>
                  <a:srgbClr val="1E3A8A"/>
                </a:solidFill>
              </a:defRPr>
            </a:pPr>
            <a:r>
              <a:t>ANNEXURE 10 B: SYSTEM ARCHITECTURE &amp; IMPLEMENTATION</a:t>
            </a:r>
            <a:endParaRPr lang="en-US" sz="3600" dirty="0"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Frontend Architecture: </a:t>
            </a:r>
            <a:r>
              <a:rPr sz="1400">
                <a:solidFill>
                  <a:srgbClr val="334155"/>
                </a:solidFill>
              </a:rPr>
              <a:t>React 18 SPA built with Vite, TypeScript, TailwindCSS for custom styling, Lucide icons, and Axios HTTP client with automatic JWT refresh queue.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Backend Architecture: </a:t>
            </a:r>
            <a:r>
              <a:rPr sz="1400">
                <a:solidFill>
                  <a:srgbClr val="334155"/>
                </a:solidFill>
              </a:rPr>
              <a:t>Express.js v5 REST API with modular MVC architecture, Zod schema validation, Pino structured logging, Multer file upload handlers, and background opportunity sync.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Database &amp; Vector Store: </a:t>
            </a:r>
            <a:r>
              <a:rPr sz="1400">
                <a:solidFill>
                  <a:srgbClr val="334155"/>
                </a:solidFill>
              </a:rPr>
              <a:t>PostgreSQL hosted with pgvector extension for 768-dimensional Google Gemini embeddings, managed via Prisma ORM.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AI &amp; OCR Engine: </a:t>
            </a:r>
            <a:r>
              <a:rPr sz="1400">
                <a:solidFill>
                  <a:srgbClr val="334155"/>
                </a:solidFill>
              </a:rPr>
              <a:t>Google Gemini Flash multimodal models with automatic fallback across gemini-3.5-flash, gemini-3.7-flash, and gemini-flash-latest.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Security Architecture: </a:t>
            </a:r>
            <a:r>
              <a:rPr sz="1400">
                <a:solidFill>
                  <a:srgbClr val="334155"/>
                </a:solidFill>
              </a:rPr>
              <a:t>Argon2id password hashing, HTTP-only JWT cookies, Helmet HTTP headers, CORS origin whitelisting, and Express rate limiting.</a:t>
            </a:r>
          </a:p>
        </p:txBody>
      </p:sp>
    </p:spTree>
    <p:extLst>
      <p:ext uri="{BB962C8B-B14F-4D97-AF65-F5344CB8AC3E}">
        <p14:creationId xmlns:p14="http://schemas.microsoft.com/office/powerpoint/2010/main" val="909365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40C1D99D-9F58-0ACE-965B-9F2E34AC4C37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b="1" sz="2600">
                <a:solidFill>
                  <a:srgbClr val="1E3A8A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7548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Google Gemini API Documentation: </a:t>
            </a:r>
            <a:r>
              <a:rPr sz="1400">
                <a:solidFill>
                  <a:srgbClr val="334155"/>
                </a:solidFill>
              </a:rPr>
              <a:t>Google DeepMind Developer Documentation for Gemini Multimodal and Embeddings APIs (2025/2026).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PostgreSQL pgvector Specification: </a:t>
            </a:r>
            <a:r>
              <a:rPr sz="1400">
                <a:solidFill>
                  <a:srgbClr val="334155"/>
                </a:solidFill>
              </a:rPr>
              <a:t>Open-Source Vector Similarity Search Extension for PostgreSQL (Cosine &amp; L2 Euclidean distance).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Lewis, P., et al.: </a:t>
            </a:r>
            <a:r>
              <a:rPr sz="1400">
                <a:solidFill>
                  <a:srgbClr val="334155"/>
                </a:solidFill>
              </a:rPr>
              <a:t>"Retrieval-Augmented Generation for Knowledge-Intensive NLP Tasks", Advances in Neural Information Processing Systems (NeurIPS).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Prisma ORM &amp; Express.js Guidelines: </a:t>
            </a:r>
            <a:r>
              <a:rPr sz="1400">
                <a:solidFill>
                  <a:srgbClr val="334155"/>
                </a:solidFill>
              </a:rPr>
              <a:t>Modern Backend Architecture, Type-Safe ORMs, and RESTful API Design Standards.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E3A8A"/>
                </a:solidFill>
              </a:rPr>
              <a:t>• React 18 &amp; Vite Technical Documentation: </a:t>
            </a:r>
            <a:r>
              <a:rPr sz="1400">
                <a:solidFill>
                  <a:srgbClr val="334155"/>
                </a:solidFill>
              </a:rPr>
              <a:t>Component-Driven Frontend Architecture and Performance Optimization in Modern Web Apps.</a:t>
            </a:r>
          </a:p>
        </p:txBody>
      </p:sp>
    </p:spTree>
    <p:extLst>
      <p:ext uri="{BB962C8B-B14F-4D97-AF65-F5344CB8AC3E}">
        <p14:creationId xmlns:p14="http://schemas.microsoft.com/office/powerpoint/2010/main" val="1523488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</Words>
  <Application>Microsoft Office PowerPoint</Application>
  <PresentationFormat>On-screen Show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            TITLE OF THE PROJECT                   Mini Project / 5th Sem/ BCS554</vt:lpstr>
      <vt:lpstr>ABSTRACT [in Bullet points]</vt:lpstr>
      <vt:lpstr>OBJECTIVE [in Bullet points]</vt:lpstr>
      <vt:lpstr>SCOPE of the Problem Statement </vt:lpstr>
      <vt:lpstr>RELATED WORK</vt:lpstr>
      <vt:lpstr>Applications</vt:lpstr>
      <vt:lpstr>Limitations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[COLLEGE LOGO ]             TITLE OF THE PROJECT                   Mini Project KCS 554/ 5th Sem</dc:title>
  <dc:creator>Vaibhav Ranjan</dc:creator>
  <cp:lastModifiedBy>Microsoft account</cp:lastModifiedBy>
  <cp:revision>110</cp:revision>
  <dcterms:created xsi:type="dcterms:W3CDTF">2006-08-16T00:00:00Z</dcterms:created>
  <dcterms:modified xsi:type="dcterms:W3CDTF">2025-10-29T11:31:59Z</dcterms:modified>
</cp:coreProperties>
</file>
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[ ABES LOGO HERE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292608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4000" b="1">
                <a:solidFill>
                  <a:srgbClr val="38BDF8"/>
                </a:solidFill>
              </a:defRPr>
            </a:pPr>
            <a:r>
              <a:t>CAREEROS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AI-Powered Career Operating System &amp; Academic Intelligence Platform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Mini Project Presentation • 5th Semester • Course Code: BCS554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212080" cy="2103120"/>
          </a:xfrm>
          <a:prstGeom prst="roundRect">
            <a:avLst/>
          </a:prstGeom>
          <a:solidFill>
            <a:srgbClr val="1A264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👨‍💻 STUDENT CREDENTIALS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1. Shahab Ahmad  |  Roll No: 2200680100206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2. Student Name 2 |  Roll No: 2200680100XXX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3. Student Name 3 |  Roll No: 2200680100XXX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4297680"/>
            <a:ext cx="5212080" cy="2103120"/>
          </a:xfrm>
          <a:prstGeom prst="roundRect">
            <a:avLst/>
          </a:prstGeom>
          <a:solidFill>
            <a:srgbClr val="1A26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🎓 SUPERVISION &amp; INSTITUTION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Project Supervisor: Dr. / Prof. [Supervisor Name]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Designation: Assistant / Associate Professor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Department: Computer Science &amp; Engineering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ABES Engineering College, Ghaziabad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Executive Summary: Bridging Academic &amp; Career 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⚠️ THE CHALLENGE: STUDENT FRAGMENTATION</a:t>
            </a:r>
          </a:p>
          <a:p>
            <a:pPr>
              <a:spcBef>
                <a:spcPts val="800"/>
              </a:spcBef>
              <a:defRPr b="1" sz="1250">
                <a:solidFill>
                  <a:srgbClr val="0F172A"/>
                </a:solidFill>
              </a:defRPr>
            </a:pPr>
            <a:r>
              <a:t>• Siloed Career Prep: </a:t>
            </a:r>
            <a:r>
              <a:rPr b="0" sz="1200">
                <a:solidFill>
                  <a:srgbClr val="475569"/>
                </a:solidFill>
              </a:rPr>
              <a:t>Students navigate 5+ disjoint platforms (LinkedIn, LeetCode, GitHub, college portals, job boards) with no unified tracking.</a:t>
            </a:r>
          </a:p>
          <a:p>
            <a:pPr>
              <a:spcBef>
                <a:spcPts val="800"/>
              </a:spcBef>
              <a:defRPr b="1" sz="1250">
                <a:solidFill>
                  <a:srgbClr val="0F172A"/>
                </a:solidFill>
              </a:defRPr>
            </a:pPr>
            <a:r>
              <a:t>• Static PDF Syllabi &amp; Notes: </a:t>
            </a:r>
            <a:r>
              <a:rPr b="0" sz="1200">
                <a:solidFill>
                  <a:srgbClr val="475569"/>
                </a:solidFill>
              </a:rPr>
              <a:t>Heavy textbooks and lecture PDFs remain passive, non-interactive documents that cannot be queried or quizzed dynamically.</a:t>
            </a:r>
          </a:p>
          <a:p>
            <a:pPr>
              <a:spcBef>
                <a:spcPts val="800"/>
              </a:spcBef>
              <a:defRPr b="1" sz="1250">
                <a:solidFill>
                  <a:srgbClr val="0F172A"/>
                </a:solidFill>
              </a:defRPr>
            </a:pPr>
            <a:r>
              <a:t>• Generic Advice Engines: </a:t>
            </a:r>
            <a:r>
              <a:rPr b="0" sz="1200">
                <a:solidFill>
                  <a:srgbClr val="475569"/>
                </a:solidFill>
              </a:rPr>
              <a:t>Standard chatbots lack grounding in the student actual university year, branch, verified skill levels, or past projects.</a:t>
            </a:r>
          </a:p>
          <a:p>
            <a:pPr>
              <a:spcBef>
                <a:spcPts val="800"/>
              </a:spcBef>
              <a:defRPr b="1" sz="1250">
                <a:solidFill>
                  <a:srgbClr val="0F172A"/>
                </a:solidFill>
              </a:defRPr>
            </a:pPr>
            <a:r>
              <a:t>• Dispersed Job Boards: </a:t>
            </a:r>
            <a:r>
              <a:rPr b="0" sz="1200">
                <a:solidFill>
                  <a:srgbClr val="475569"/>
                </a:solidFill>
              </a:rPr>
              <a:t>Scattered job portals result in information overload, expired listings, and untracked job application statuses.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✅ THE SOLUTION: CAREEROS ECOSYSTEM</a:t>
            </a:r>
          </a:p>
          <a:p>
            <a:pPr>
              <a:spcBef>
                <a:spcPts val="800"/>
              </a:spcBef>
              <a:defRPr b="1" sz="1250">
                <a:solidFill>
                  <a:srgbClr val="0F172A"/>
                </a:solidFill>
              </a:defRPr>
            </a:pPr>
            <a:r>
              <a:t>• Unified Career Operating System: </a:t>
            </a:r>
            <a:r>
              <a:rPr b="0" sz="1200">
                <a:solidFill>
                  <a:srgbClr val="475569"/>
                </a:solidFill>
              </a:rPr>
              <a:t>Single integrated dashboard combining Student Profile, RAG Study Room, Coding Profiles, and Live Job Tracker.</a:t>
            </a:r>
          </a:p>
          <a:p>
            <a:pPr>
              <a:spcBef>
                <a:spcPts val="800"/>
              </a:spcBef>
              <a:defRPr b="1" sz="1250">
                <a:solidFill>
                  <a:srgbClr val="0F172A"/>
                </a:solidFill>
              </a:defRPr>
            </a:pPr>
            <a:r>
              <a:t>• Multimodal RAG Study Room: </a:t>
            </a:r>
            <a:r>
              <a:rPr b="0" sz="1200">
                <a:solidFill>
                  <a:srgbClr val="475569"/>
                </a:solidFill>
              </a:rPr>
              <a:t>Chat natively with uploaded syllabus PDFs with pgvector cosine similarity, smart OCR fallback, and auto-generated quizzes.</a:t>
            </a:r>
          </a:p>
          <a:p>
            <a:pPr>
              <a:spcBef>
                <a:spcPts val="800"/>
              </a:spcBef>
              <a:defRPr b="1" sz="1250">
                <a:solidFill>
                  <a:srgbClr val="0F172A"/>
                </a:solidFill>
              </a:defRPr>
            </a:pPr>
            <a:r>
              <a:t>• Autonomous AI Career Mentor: </a:t>
            </a:r>
            <a:r>
              <a:rPr b="0" sz="1200">
                <a:solidFill>
                  <a:srgbClr val="475569"/>
                </a:solidFill>
              </a:rPr>
              <a:t>Personalized advice engine grounded in verified student profile, university semester, and career goals with multi-model fallback.</a:t>
            </a:r>
          </a:p>
          <a:p>
            <a:pPr>
              <a:spcBef>
                <a:spcPts val="800"/>
              </a:spcBef>
              <a:defRPr b="1" sz="1250">
                <a:solidFill>
                  <a:srgbClr val="0F172A"/>
                </a:solidFill>
              </a:defRPr>
            </a:pPr>
            <a:r>
              <a:t>• Live Multi-Provider Aggregator: </a:t>
            </a:r>
            <a:r>
              <a:rPr b="0" sz="1200">
                <a:solidFill>
                  <a:srgbClr val="475569"/>
                </a:solidFill>
              </a:rPr>
              <a:t>Automated background cron synchronization with Adzuna, Remotive, and Arbeitnow with application event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Project Objectives: 4 Architectural Pillars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PILLAR 1: AI CAREER MENTOR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Dynamic Contextual Guidance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Tailored technical interview roadmaps.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Understands student graduation year &amp; branch.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Resume optimization and project architecture advice.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Zero generic responses: grounded in personal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PILLAR 2: RAG STUDY ROOM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Multimodal Syllabus Assistant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Vector search using pgvector (768-dim embeddings).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Full PDF parsing with Gemini OCR fallback.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Generates custom 3-question MCQ quizzes instantly.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Chapter explanations &amp; technical conceptual deep-dives.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PILLAR 3: JOB AGGREGATOR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Real-Time Opportunity Engine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Aggregates Adzuna, Remotive, and Arbeitnow.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Tracks applications: Applied, Interviewing, Offer.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Skill requirement matching with target levels.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Automated background cron sync without server 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0233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PILLAR 4: DEVELOPER HUB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Coding &amp; Portfolio Synchronization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Centralizes LeetCode, CodeChef &amp; HackerRank stats.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Live GitHub repository star/fork and activity tracking.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1–10 Skill Level &amp; Confidence Matrix.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✓ Step-by-step milestone roadmaps (Learn, Build, Apply).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3-Tier Layered Design</a:t>
            </a:r>
          </a:p>
        </p:txBody>
      </p:sp>
      <p:pic>
        <p:nvPicPr>
          <p:cNvPr id="6" name="Picture 5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Technical Deep Dive: Multimodal RAG Study Pipeline</a:t>
            </a:r>
          </a:p>
        </p:txBody>
      </p:sp>
      <p:pic>
        <p:nvPicPr>
          <p:cNvPr id="6" name="Picture 5" descr="diagram_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20624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🔍 KEY PIPELINE INNOVATIONS &amp; ALGORITHMS</a:t>
            </a:r>
          </a:p>
          <a:p>
            <a:pPr>
              <a:spcBef>
                <a:spcPts val="300"/>
              </a:spcBef>
              <a:defRPr b="1" sz="1150">
                <a:solidFill>
                  <a:srgbClr val="0F172A"/>
                </a:solidFill>
              </a:defRPr>
            </a:pPr>
            <a:r>
              <a:t>• Hybrid Extraction &amp; Vision OCR: </a:t>
            </a:r>
            <a:r>
              <a:rPr b="0" sz="1150">
                <a:solidFill>
                  <a:srgbClr val="475569"/>
                </a:solidFill>
              </a:rPr>
              <a:t>Utilizes pdf-parse v2 for instant digital text; automatically invokes Gemini Multimodal Vision if text is &lt; 80 characters (handles scanned notes/slides seamlessly).</a:t>
            </a:r>
          </a:p>
          <a:p>
            <a:pPr>
              <a:spcBef>
                <a:spcPts val="300"/>
              </a:spcBef>
              <a:defRPr b="1" sz="1150">
                <a:solidFill>
                  <a:srgbClr val="0F172A"/>
                </a:solidFill>
              </a:defRPr>
            </a:pPr>
            <a:r>
              <a:t>• High-Density Vector Space: </a:t>
            </a:r>
            <a:r>
              <a:rPr b="0" sz="1150">
                <a:solidFill>
                  <a:srgbClr val="475569"/>
                </a:solidFill>
              </a:rPr>
              <a:t>Generates 768-dimensional embeddings via gemini-embedding-001 stored natively in PostgreSQL using the pgvector extension.</a:t>
            </a:r>
          </a:p>
          <a:p>
            <a:pPr>
              <a:spcBef>
                <a:spcPts val="300"/>
              </a:spcBef>
              <a:defRPr b="1" sz="1150">
                <a:solidFill>
                  <a:srgbClr val="0F172A"/>
                </a:solidFill>
              </a:defRPr>
            </a:pPr>
            <a:r>
              <a:t>• Cosine Similarity Search: </a:t>
            </a:r>
            <a:r>
              <a:rPr b="0" sz="1150">
                <a:solidFill>
                  <a:srgbClr val="475569"/>
                </a:solidFill>
              </a:rPr>
              <a:t>Executes SQL cosine distance queries (embedding &lt;=&gt; query::vector) to retrieve top context chunks in under 25ms.</a:t>
            </a:r>
          </a:p>
          <a:p>
            <a:pPr>
              <a:spcBef>
                <a:spcPts val="300"/>
              </a:spcBef>
              <a:defRPr b="1" sz="1150">
                <a:solidFill>
                  <a:srgbClr val="0F172A"/>
                </a:solidFill>
              </a:defRPr>
            </a:pPr>
            <a:r>
              <a:t>• Overview &amp; Quiz Generation: </a:t>
            </a:r>
            <a:r>
              <a:rPr b="0" sz="1150">
                <a:solidFill>
                  <a:srgbClr val="475569"/>
                </a:solidFill>
              </a:rPr>
              <a:t>Provides complete document context for global queries (explain it, summarize, generate 3-question MCQ quiz) with explanations and answer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AI Career Mentor: Context-Aware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🧠 DYNAMIC PROFILE GROUNDING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Academic Metadata Injection: </a:t>
            </a:r>
            <a:r>
              <a:rPr b="0" sz="1200">
                <a:solidFill>
                  <a:srgbClr val="475569"/>
                </a:solidFill>
              </a:rPr>
              <a:t>Injects student college, branch, current year, semester, and career goals into system prompt dynamically.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Zero Hallucination Inquiries: </a:t>
            </a:r>
            <a:r>
              <a:rPr b="0" sz="1200">
                <a:solidFill>
                  <a:srgbClr val="475569"/>
                </a:solidFill>
              </a:rPr>
              <a:t>Instructs LLM to never ask repetitive background questions when profile details are already stored.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Interactive Memory Sessions: </a:t>
            </a:r>
            <a:r>
              <a:rPr b="0" sz="1200">
                <a:solidFill>
                  <a:srgbClr val="475569"/>
                </a:solidFill>
              </a:rPr>
              <a:t>Maintains persistent MentorSession and ChatMessage history in PostgreSQL for continuous multi-turn conversations.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Targeted Guidance: </a:t>
            </a:r>
            <a:r>
              <a:rPr b="0" sz="1200">
                <a:solidFill>
                  <a:srgbClr val="475569"/>
                </a:solidFill>
              </a:rPr>
              <a:t>Offers specific suggestions for tier-1 projects, interview questions, and tech stack choices for backend, full-stack, and AI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🛡️ MULTI-MODEL FALLBACK CHAIN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100% Uptime Guarantee: </a:t>
            </a:r>
            <a:r>
              <a:rPr b="0" sz="1200">
                <a:solidFill>
                  <a:srgbClr val="475569"/>
                </a:solidFill>
              </a:rPr>
              <a:t>Built-in resilience prevents 503 Provider High-Demand Spikes or 404 Model Retirement outages.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Candidate Priority Chain: </a:t>
            </a:r>
            <a:r>
              <a:rPr b="0" sz="1200">
                <a:solidFill>
                  <a:srgbClr val="475569"/>
                </a:solidFill>
              </a:rPr>
              <a:t>Sequentially tries: gemini-3.5-flash ➔ gemini-3.7-flash ➔ gemini-flash-latest ➔ gemini-flash-lite-latest.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Graceful Error Logging: </a:t>
            </a:r>
            <a:r>
              <a:rPr b="0" sz="1200">
                <a:solidFill>
                  <a:srgbClr val="475569"/>
                </a:solidFill>
              </a:rPr>
              <a:t>Structured Pino logging captures provider latency and failure events without interrupting student workflow.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Instant Response Times: </a:t>
            </a:r>
            <a:r>
              <a:rPr b="0" sz="1200">
                <a:solidFill>
                  <a:srgbClr val="475569"/>
                </a:solidFill>
              </a:rPr>
              <a:t>Average chat latency of under 1.2 seconds across mentorship and document QA sessions.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Opportunities Aggregator &amp; Coding Profiles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💼 OPPORTUNITY SYNC ENGINE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Multi-Source Aggregation: </a:t>
            </a:r>
            <a:r>
              <a:rPr b="0" sz="1200">
                <a:solidFill>
                  <a:srgbClr val="475569"/>
                </a:solidFill>
              </a:rPr>
              <a:t>Fetches software and internship postings from Adzuna, Remotive, and Arbeitnow APIs.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Automated Cron Scheduling: </a:t>
            </a:r>
            <a:r>
              <a:rPr b="0" sz="1200">
                <a:solidFill>
                  <a:srgbClr val="475569"/>
                </a:solidFill>
              </a:rPr>
              <a:t>Syncs listings in the background without blocking student HTTP requests.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Application Tracking Pipeline: </a:t>
            </a:r>
            <a:r>
              <a:rPr b="0" sz="1200">
                <a:solidFill>
                  <a:srgbClr val="475569"/>
                </a:solidFill>
              </a:rPr>
              <a:t>Tracks lifecycle: APPLIED ➔ INTERVIEWING ➔ OFFER ➔ REJECTED with note logs.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Skill Match Scoring: </a:t>
            </a:r>
            <a:r>
              <a:rPr b="0" sz="1200">
                <a:solidFill>
                  <a:srgbClr val="475569"/>
                </a:solidFill>
              </a:rPr>
              <a:t>Calculates match percentage based on student verified skills vs job requirement levels.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⚡ CODING &amp; GITHUB INTELLIGENCE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Competitive Coding Stats: </a:t>
            </a:r>
            <a:r>
              <a:rPr b="0" sz="1200">
                <a:solidFill>
                  <a:srgbClr val="475569"/>
                </a:solidFill>
              </a:rPr>
              <a:t>Consolidates solved problems, ranking, contest rating, and streaks across LeetCode, CodeChef, HackerRank, Codeforces, and GeeksforGeeks.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GitHub Portfolio Sync: </a:t>
            </a:r>
            <a:r>
              <a:rPr b="0" sz="1200">
                <a:solidFill>
                  <a:srgbClr val="475569"/>
                </a:solidFill>
              </a:rPr>
              <a:t>Fetches public repositories, primary languages, total stars, forks, and followers via GitHub REST API.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1–10 Skill Level Matrix: </a:t>
            </a:r>
            <a:r>
              <a:rPr b="0" sz="1200">
                <a:solidFill>
                  <a:srgbClr val="475569"/>
                </a:solidFill>
              </a:rPr>
              <a:t>Visualizes proficiencies across Frontend, Backend, AI/ML, and Core CS.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Roadmap Milestones: </a:t>
            </a:r>
            <a:r>
              <a:rPr b="0" sz="1200">
                <a:solidFill>
                  <a:srgbClr val="475569"/>
                </a:solidFill>
              </a:rPr>
              <a:t>Interactive roadmap steps (Learn, Build, Apply) with percentage progress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Competitive Analysis: CareerOS vs Industry Alternatives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920240"/>
                <a:gridCol w="1920240"/>
                <a:gridCol w="1950415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CareerOS (Ours)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LinkedIn / Handshake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Generic AI (ChatGPT)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Coding Sites (LeetCode)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Unified Academic + Career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✅ Yes (All-in-One)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 (Career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 (Chat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 (Coding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Multimodal RAG Syllabus Study Room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✅ Yes (pgvector + OCR)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⚠️ Partial (No Vector DB)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Personalized AI Career Mentorship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✅ Yes (Profile Grounded)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⚠️ Generic Prompting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Live Multi-Source Job Aggregation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✅ Yes (3+ Job Boards)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⚠️ Single Platform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Integrated Coding &amp; GitHub 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3A8A"/>
                          </a:solidFill>
                        </a:defRPr>
                      </a:pPr>
                      <a:r>
                        <a:t>✅ Yes (Unified Metrics)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⚠️ Siloed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Enterprise Security &amp; Performance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1. AUTHENTICATION &amp; SESSION SECURITY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Argon2id password hashing (resistant to GPU attacks).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Dual JWT system: Access Token (15m) + HTTP-only Refresh Token (7d).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Automatic Axios 401 retry queue eliminates expired session popups.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Optional Google OAuth 2.0 Single Sign-On (SSO).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2. NETWORK &amp; API PROTECTION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Helmet security headers with Cross-Origin Resource Policy.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CORS origin isolation configured for frontend dev/prod.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Express Rate Limiting (100 req/min per IP) to prevent DDoS.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Zod strict schema validation on all incoming request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SCALABLE DATA &amp; VECTOR STORE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PostgreSQL relational schema managed via Prisma ORM.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pgvector vector database supporting 768-dimensional embeddings.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Connection pooling with pg.Pool preventing connection exhaustion.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Async file processing: PDF text indexing runs without blocking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0233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4. OBSERVABILITY &amp; GRACEFUL SHUTDOWN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Pino structured high-speed JSON logging with unique X-Request-ID.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Async handler wrapping all controllers to eliminate unhandled crashes.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Graceful SIGINT/SIGTERM handlers for zero-downtime restarts.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🔒 Health check endpoints (/api/v1/health, /live, /ready).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Project Limitations &amp; Future Enhancement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⚠️ CURRENT LIMITATIONS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Third-Party AI Rate Limits: </a:t>
            </a:r>
            <a:r>
              <a:rPr b="0" sz="1200">
                <a:solidFill>
                  <a:srgbClr val="475569"/>
                </a:solidFill>
              </a:rPr>
              <a:t>Subject to external Google Gemini API rate quotas and network latency during high-traffic intervals.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Heavily Degraded Scans: </a:t>
            </a:r>
            <a:r>
              <a:rPr b="0" sz="1200">
                <a:solidFill>
                  <a:srgbClr val="475569"/>
                </a:solidFill>
              </a:rPr>
              <a:t>Extremely low-resolution, warped, or non-standard cursive handwritten scans require advanced vision preprocessing.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Aggregator Schema Normalization: </a:t>
            </a:r>
            <a:r>
              <a:rPr b="0" sz="1200">
                <a:solidFill>
                  <a:srgbClr val="475569"/>
                </a:solidFill>
              </a:rPr>
              <a:t>Heterogeneous external job boards (Adzuna, Remotive) require ongoing schema sanitization and maintenance.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Vector Index Scaling: </a:t>
            </a:r>
            <a:r>
              <a:rPr b="0" sz="1200">
                <a:solidFill>
                  <a:srgbClr val="475569"/>
                </a:solidFill>
              </a:rPr>
              <a:t>As document chunks expand into millions, requires dedicated HNSW/IVFFlat index tuning on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🚀 FUTURE ENHANCEMENT ROADMAP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Real-Time Audio/Video Mock Interviews: </a:t>
            </a:r>
            <a:r>
              <a:rPr b="0" sz="1200">
                <a:solidFill>
                  <a:srgbClr val="475569"/>
                </a:solidFill>
              </a:rPr>
              <a:t>Integrate WebSockets &amp; WebRTC for speech-to-text live technical and behavioral interview simulations.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Native Cross-Platform Mobile App: </a:t>
            </a:r>
            <a:r>
              <a:rPr b="0" sz="1200">
                <a:solidFill>
                  <a:srgbClr val="475569"/>
                </a:solidFill>
              </a:rPr>
              <a:t>Develop iOS &amp; Android applications using React Native / Expo for on-the-go offline syllabus review.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Automated ATS Resume Scorer: </a:t>
            </a:r>
            <a:r>
              <a:rPr b="0" sz="1200">
                <a:solidFill>
                  <a:srgbClr val="475569"/>
                </a:solidFill>
              </a:rPr>
              <a:t>Direct algorithmic comparison of student resume against targeted job descriptions with missing keyword insights.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Collaborative Peer Study Rooms: </a:t>
            </a:r>
            <a:r>
              <a:rPr b="0" sz="1200">
                <a:solidFill>
                  <a:srgbClr val="475569"/>
                </a:solidFill>
              </a:rPr>
              <a:t>Multi-user real-time study sessions with synchronized PDF viewers and interactive shared whiteboards.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Conclusion: Impact &amp; 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2073" cy="466344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100% Unified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Single Operating System</a:t>
            </a:r>
          </a:p>
          <a:p>
            <a:pPr algn="ctr"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Eliminated fragmented student tooling by merging Career, Academic Study, and Portfolio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353" y="1554480"/>
            <a:ext cx="3332073" cy="466344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&lt; 25ms Retrieval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Sub-Second pgvector Search</a:t>
            </a:r>
          </a:p>
          <a:p>
            <a:pPr algn="ctr"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High-speed cosine similarity search over thousands of document text chunks.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7" y="1554480"/>
            <a:ext cx="3332073" cy="4663440"/>
          </a:xfrm>
          <a:prstGeom prst="roundRect">
            <a:avLst/>
          </a:prstGeom>
          <a:solidFill>
            <a:srgbClr val="141E3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Zero-Downtime AI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Multi-Model Fallback</a:t>
            </a:r>
          </a:p>
          <a:p>
            <a:pPr algn="ctr"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Resilient architecture guaranteeing 100% mentorship and RAG QA response availability.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192024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[ ABES LOGO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CAREEROS • ACADEMIC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References &amp; Technical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📚 BIBLIOGRAPHY &amp; TECHNICAL STANDARDS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1. Google DeepMind AI Documentation: </a:t>
            </a:r>
            <a:r>
              <a:rPr b="0" sz="1200">
                <a:solidFill>
                  <a:srgbClr val="475569"/>
                </a:solidFill>
              </a:rPr>
              <a:t>Gemini Multimodal 2.5/3.5 and Vector Embeddings API Specifications (2025/2026).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2. PostgreSQL pgvector Specification: </a:t>
            </a:r>
            <a:r>
              <a:rPr b="0" sz="1200">
                <a:solidFill>
                  <a:srgbClr val="475569"/>
                </a:solidFill>
              </a:rPr>
              <a:t>Open-Source Vector Similarity Search Extension for PostgreSQL (Cosine Distance &lt;=&gt; Operator).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3. Lewis, P., et al. (NeurIPS): </a:t>
            </a:r>
            <a:r>
              <a:rPr b="0" sz="1200">
                <a:solidFill>
                  <a:srgbClr val="475569"/>
                </a:solidFill>
              </a:rPr>
              <a:t>"Retrieval-Augmented Generation for Knowledge-Intensive NLP Tasks", Advances in Neural Information Processing Systems.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4. Prisma ORM &amp; Express.js Architectural Standards: </a:t>
            </a:r>
            <a:r>
              <a:rPr b="0" sz="1200">
                <a:solidFill>
                  <a:srgbClr val="475569"/>
                </a:solidFill>
              </a:rPr>
              <a:t>Type-Safe ORM Schema Design, Middleware Layering, and Scalable REST APIs.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5. React 18 &amp; Vite Technical Documentation: </a:t>
            </a:r>
            <a:r>
              <a:rPr b="0" sz="1200">
                <a:solidFill>
                  <a:srgbClr val="475569"/>
                </a:solidFill>
              </a:rPr>
              <a:t>Single Page Application Performance, State Interceptors, and Component Hierarchy.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THANK YOU! • QUESTIONS &amp; ANSWERS (Q&amp;A)</a:t>
            </a:r>
          </a:p>
          <a:p>
            <a:pPr algn="ctr">
              <a:spcBef>
                <a:spcPts val="200"/>
              </a:spcBef>
              <a:defRPr sz="1200">
                <a:solidFill>
                  <a:srgbClr val="38BDF8"/>
                </a:solidFill>
              </a:defRPr>
            </a:pPr>
            <a:r>
              <a:t>Department of Computer Science &amp; Engineering • ABES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